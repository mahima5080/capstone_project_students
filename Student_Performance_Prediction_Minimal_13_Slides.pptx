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12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78" y="1973166"/>
            <a:ext cx="9997135" cy="4183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School of Computer Science and Engineering</a:t>
            </a:r>
            <a:endParaRPr lang="en-US" sz="2800" dirty="0"/>
          </a:p>
          <a:p>
            <a:pPr algn="ctr">
              <a:spcAft>
                <a:spcPts val="2200"/>
              </a:spcAft>
            </a:pPr>
            <a:r>
              <a:rPr lang="en-US" sz="2400" dirty="0">
                <a:solidFill>
                  <a:srgbClr val="C9D6EA"/>
                </a:solidFill>
              </a:rPr>
              <a:t>Department of Science and Application</a:t>
            </a:r>
            <a:endParaRPr lang="en-US" sz="2800" dirty="0"/>
          </a:p>
          <a:p>
            <a:pPr algn="ctr">
              <a:spcAft>
                <a:spcPts val="1400"/>
              </a:spcAft>
            </a:pPr>
            <a:r>
              <a:rPr lang="en-US" sz="2200" b="1" kern="0" spc="300" dirty="0">
                <a:solidFill>
                  <a:srgbClr val="E3C45A"/>
                </a:solidFill>
              </a:rPr>
              <a:t>CIA-3 PRESENTATION</a:t>
            </a:r>
            <a:endParaRPr lang="en-US" dirty="0"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Student Performance Prediction Using TensorFlow &amp; Power BI</a:t>
            </a:r>
          </a:p>
          <a:p>
            <a:pPr algn="ctr">
              <a:spcBef>
                <a:spcPts val="1200"/>
              </a:spcBef>
              <a:defRPr sz="1600" b="1">
                <a:solidFill>
                  <a:srgbClr val="0096D6"/>
                </a:solidFill>
              </a:defRPr>
            </a:pPr>
            <a:r>
              <a:rPr lang="en-US" dirty="0"/>
              <a:t>Subject : </a:t>
            </a:r>
            <a:r>
              <a:rPr dirty="0"/>
              <a:t>Capstone Project (CIA-3 Presentation)</a:t>
            </a:r>
          </a:p>
          <a:p>
            <a:pPr algn="ctr">
              <a:spcBef>
                <a:spcPts val="2000"/>
              </a:spcBef>
              <a:defRPr sz="1400">
                <a:solidFill>
                  <a:srgbClr val="FFFFFF"/>
                </a:solidFill>
              </a:defRPr>
            </a:pPr>
            <a:r>
              <a:rPr sz="1600" dirty="0"/>
              <a:t>Presented by: Ms. Mahima Chaudhari  |  </a:t>
            </a:r>
            <a:r>
              <a:rPr lang="en-US" sz="1600" dirty="0"/>
              <a:t>PRN : 250105051019</a:t>
            </a:r>
          </a:p>
          <a:p>
            <a:pPr algn="ctr">
              <a:spcBef>
                <a:spcPts val="2000"/>
              </a:spcBef>
              <a:defRPr sz="1400">
                <a:solidFill>
                  <a:srgbClr val="FFFFFF"/>
                </a:solidFill>
              </a:defRPr>
            </a:pPr>
            <a:r>
              <a:rPr sz="1600" dirty="0"/>
              <a:t>Class: SY MCA</a:t>
            </a:r>
            <a:br>
              <a:rPr dirty="0"/>
            </a:br>
            <a:r>
              <a:rPr sz="1600" dirty="0"/>
              <a:t>Under the Guidance of: Prof. Smita </a:t>
            </a:r>
            <a:r>
              <a:rPr sz="1600" dirty="0" err="1"/>
              <a:t>Dhawadekar</a:t>
            </a:r>
            <a:endParaRPr dirty="0"/>
          </a:p>
          <a:p>
            <a:pPr algn="ctr">
              <a:spcBef>
                <a:spcPts val="1500"/>
              </a:spcBef>
              <a:defRPr sz="1200">
                <a:solidFill>
                  <a:srgbClr val="C8D7EB"/>
                </a:solidFill>
              </a:defRPr>
            </a:pPr>
            <a:r>
              <a:rPr lang="en-US" sz="1400" dirty="0"/>
              <a:t>Academic Year 2026-2027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2B3A4B-EAD2-8141-F409-FA4ED1713E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646" y="1042670"/>
            <a:ext cx="2438400" cy="6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5836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1E293B"/>
                </a:solidFill>
              </a:defRPr>
            </a:pPr>
            <a:r>
              <a:t>• Educational institutions generate large amounts of student usage and academic performance data.</a:t>
            </a:r>
          </a:p>
          <a:p>
            <a:pPr>
              <a:spcAft>
                <a:spcPts val="1600"/>
              </a:spcAft>
              <a:defRPr sz="1400">
                <a:solidFill>
                  <a:srgbClr val="1E293B"/>
                </a:solidFill>
              </a:defRPr>
            </a:pPr>
            <a:r>
              <a:t>• Machine Learning identifies complex patterns to estimate expected student performance.</a:t>
            </a:r>
          </a:p>
          <a:p>
            <a:pPr>
              <a:spcAft>
                <a:spcPts val="1600"/>
              </a:spcAft>
              <a:defRPr sz="1400">
                <a:solidFill>
                  <a:srgbClr val="1E293B"/>
                </a:solidFill>
              </a:defRPr>
            </a:pPr>
            <a:r>
              <a:t>• TensorFlow builds a deep neural network regression model to predict final scores.</a:t>
            </a:r>
          </a:p>
          <a:p>
            <a:pPr>
              <a:spcAft>
                <a:spcPts val="1600"/>
              </a:spcAft>
              <a:defRPr sz="1400">
                <a:solidFill>
                  <a:srgbClr val="1E293B"/>
                </a:solidFill>
              </a:defRPr>
            </a:pPr>
            <a:r>
              <a:t>• Power BI transforms raw predictions into interactive dashboards for academic monitoring.</a:t>
            </a:r>
          </a:p>
          <a:p>
            <a:pPr>
              <a:spcAft>
                <a:spcPts val="1600"/>
              </a:spcAft>
              <a:defRPr sz="1400">
                <a:solidFill>
                  <a:srgbClr val="1E293B"/>
                </a:solidFill>
              </a:defRPr>
            </a:pPr>
            <a:r>
              <a:t>• Demonstrates an end-to-end data pipeline from raw data to visualization.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840480" cy="5029200"/>
          </a:xfrm>
          <a:prstGeom prst="roundRect">
            <a:avLst/>
          </a:prstGeom>
          <a:solidFill>
            <a:srgbClr val="0F2043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D6"/>
                </a:solidFill>
              </a:defRPr>
            </a:pPr>
            <a:r>
              <a:t>System Flow</a:t>
            </a:r>
          </a:p>
          <a:p>
            <a:pPr>
              <a:spcBef>
                <a:spcPts val="1600"/>
              </a:spcBef>
              <a:defRPr sz="1300" b="1">
                <a:solidFill>
                  <a:srgbClr val="FFFFFF"/>
                </a:solidFill>
              </a:defRPr>
            </a:pPr>
            <a:r>
              <a:t>1. Student Data</a:t>
            </a:r>
          </a:p>
          <a:p>
            <a:pPr>
              <a:spcBef>
                <a:spcPts val="1600"/>
              </a:spcBef>
              <a:defRPr sz="1300" b="1">
                <a:solidFill>
                  <a:srgbClr val="FFFFFF"/>
                </a:solidFill>
              </a:defRPr>
            </a:pPr>
            <a:r>
              <a:t>2. Preprocessing</a:t>
            </a:r>
          </a:p>
          <a:p>
            <a:pPr>
              <a:spcBef>
                <a:spcPts val="1600"/>
              </a:spcBef>
              <a:defRPr sz="1300" b="1">
                <a:solidFill>
                  <a:srgbClr val="FFFFFF"/>
                </a:solidFill>
              </a:defRPr>
            </a:pPr>
            <a:r>
              <a:t>3. TensorFlow Model</a:t>
            </a:r>
          </a:p>
          <a:p>
            <a:pPr>
              <a:spcBef>
                <a:spcPts val="1600"/>
              </a:spcBef>
              <a:defRPr sz="1300" b="1">
                <a:solidFill>
                  <a:srgbClr val="FFFFFF"/>
                </a:solidFill>
              </a:defRPr>
            </a:pPr>
            <a:r>
              <a:t>4. Predicted Score</a:t>
            </a:r>
          </a:p>
          <a:p>
            <a:pPr>
              <a:spcBef>
                <a:spcPts val="1600"/>
              </a:spcBef>
              <a:defRPr sz="1300" b="1">
                <a:solidFill>
                  <a:srgbClr val="FFFFFF"/>
                </a:solidFill>
              </a:defRPr>
            </a:pPr>
            <a:r>
              <a:t>5. Power BI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Traditional academic analysis depends on manual spreadsheet calculations and static reports, making it difficult to identify student performance trends early.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Challenge 1: Data Fragmentation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Academic and behavioral usage data are stored separately, making multi-variable analysis difficult.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Challenge 2: Lack of Early Indicators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Faculty require early predictive indicators rather than waiting for final semester examination 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60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Challenge 3: Static Reporting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Static tables fail to offer an interactive view of performance trends, adoption rates, and distributions.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1.  Collect and organize student academic performance and usage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2.  Clean and preprocess numerical &amp; categorical features for machine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3.  Train a TensorFlow neural network to predict continuous final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4.  Evaluate model precision using MAE and absolute error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48640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5.  Create an interactive Power BI dashboard for trend analysis and visual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D6"/>
                </a:solidFill>
              </a:defRPr>
            </a:pPr>
            <a:r>
              <a:t>Python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Programming language for data preparation, model training, and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D6"/>
                </a:solidFill>
              </a:defRPr>
            </a:pPr>
            <a:r>
              <a:t>TensorFlow / Keras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Deep learning framework used to build and train the neural network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D6"/>
                </a:solidFill>
              </a:defRPr>
            </a:pPr>
            <a:r>
              <a:t>Pandas &amp; NumPy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Data manipulation, matrix operations, and numerical preprocessing.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D6"/>
                </a:solidFill>
              </a:defRPr>
            </a:pPr>
            <a:r>
              <a:t>Scikit-Learn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Feature scaling (StandardScaler) and dummy encoding (OneHotEncoder).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44068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D6"/>
                </a:solidFill>
              </a:defRPr>
            </a:pPr>
            <a:r>
              <a:t>Microsoft Power BI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Interactive dashboards, KPI callout reporting, and dynamic filters.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7548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Connects Machine Learning execution with Business Intelligence visualization.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ML Pipeline: Data collection, cleaning, scaling, train/test split, and TensorFlow model training.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BI Layer: Exports predicted dataset directly into Power BI Desktop.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Output: Renders interactive dashboards and visual insights for academic decision-making.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280160"/>
            <a:ext cx="56692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FC03C5-96DC-B6C3-A499-708756666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335" y="2181225"/>
            <a:ext cx="4972050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Data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1. Load &amp; Clean Data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Ingests raw dataset and removes header whitespace or invalid entries.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2. Feature Scaling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StandardScaler normalizes numerical features so all variables contribute equally.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931919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3. Categorical Encoding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OneHotEncoder transforms string categories into numerical dummy vectors.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8348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60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4. Train / Test Split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Splits data into 80% training and 20% testing sets for model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TensorFlow Neural Network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Model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Model Type: Feed-forward Artificial Neural Network (ANN).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Input Layer: Receives preprocessed academic and usage features.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Hidden Layers: 3 Dense layers (64 -&gt; 32 -&gt; 16 nodes) using ReLU activation.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Output Layer: 1 Dense neuron predicting continuous final score.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Loss &amp; Optimizer: Mean Squared Error (MSE) loss with Adam optimizer.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28324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96D6"/>
                </a:solidFill>
              </a:defRPr>
            </a:pPr>
            <a:r>
              <a:t>Python Code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CE6F5"/>
                </a:solidFill>
                <a:latin typeface="Consolas"/>
              </a:defRPr>
            </a:pPr>
            <a:r>
              <a:t># Train/Test Split &amp; Preprocessing</a:t>
            </a:r>
            <a:br/>
            <a:r>
              <a:t>X_train, X_test, y_train, y_test = train_test_split(</a:t>
            </a:r>
            <a:br/>
            <a:r>
              <a:t>    X_processed, y, test_size=0.20, random_state=42)</a:t>
            </a:r>
            <a:br/>
            <a:br/>
            <a:r>
              <a:t># Model Building</a:t>
            </a:r>
            <a:br/>
            <a:r>
              <a:t>model = tf.keras.Sequential([</a:t>
            </a:r>
            <a:br/>
            <a:r>
              <a:t>    tf.keras.layers.Input(shape=(X_train.shape[1],)),</a:t>
            </a:r>
            <a:br/>
            <a:r>
              <a:t>    tf.keras.layers.Dense(64, activation="relu"),</a:t>
            </a:r>
            <a:br/>
            <a:r>
              <a:t>    tf.keras.layers.Dense(32, activation="relu"),</a:t>
            </a:r>
            <a:br/>
            <a:r>
              <a:t>    tf.keras.layers.Dense(16, activation="relu"),</a:t>
            </a:r>
            <a:br/>
            <a:r>
              <a:t>    tf.keras.layers.Dense(1)</a:t>
            </a:r>
            <a:br/>
            <a:r>
              <a:t>])</a:t>
            </a:r>
            <a:br/>
            <a:br/>
            <a:r>
              <a:t># Compilation &amp; Fitting</a:t>
            </a:r>
            <a:br/>
            <a:r>
              <a:t>model.compile(optimizer="adam", loss="mse", metrics=["mae"])</a:t>
            </a:r>
            <a:br/>
            <a:r>
              <a:t>model.fit(X_train, y_train, epochs=25, batch_size=32)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Model Evaluation &amp;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5643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Mean Absolute Error (MAE)</a:t>
            </a:r>
          </a:p>
          <a:p>
            <a:pPr>
              <a:spcBef>
                <a:spcPts val="400"/>
              </a:spcBef>
              <a:defRPr sz="2800" b="1">
                <a:solidFill>
                  <a:srgbClr val="0096D6"/>
                </a:solidFill>
              </a:defRPr>
            </a:pPr>
            <a:r>
              <a:t>1.25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Average difference between actual and predicted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280160"/>
            <a:ext cx="345643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53712" y="137160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Average Actual Score</a:t>
            </a:r>
          </a:p>
          <a:p>
            <a:pPr>
              <a:spcBef>
                <a:spcPts val="400"/>
              </a:spcBef>
              <a:defRPr sz="2800" b="1">
                <a:solidFill>
                  <a:srgbClr val="0096D6"/>
                </a:solidFill>
              </a:defRPr>
            </a:pPr>
            <a:r>
              <a:t>0.00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Observed baseline average across student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280160"/>
            <a:ext cx="345643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37160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Average Predicted Score</a:t>
            </a:r>
          </a:p>
          <a:p>
            <a:pPr>
              <a:spcBef>
                <a:spcPts val="400"/>
              </a:spcBef>
              <a:defRPr sz="2800" b="1">
                <a:solidFill>
                  <a:srgbClr val="0096D6"/>
                </a:solidFill>
              </a:defRPr>
            </a:pPr>
            <a:r>
              <a:t>0.10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TensorFlow Neural Network aggregate prediction.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728655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101800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Sample Student Predictions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05840" y="4206240"/>
          <a:ext cx="101800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6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6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60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Stream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Actual Score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Predicted Score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Absolute Error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Aarav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Vivaan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Aditya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-1.54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Vihaan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Power BI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7548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Interactive dashboard for monitoring student performance.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KPI Cards: Total students, average actual score, and predicted average.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Actual vs Predicted Chart: Compares predicted outputs with observed performance.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Distribution Charts: Displays tool usage and performance trends.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Slicers: Filter by student stream, usage hours, and performance 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280160"/>
            <a:ext cx="56692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5B55BB-87D0-49DC-289C-E9E6F444C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099" y="2119860"/>
            <a:ext cx="5268501" cy="29334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D6"/>
                </a:solidFill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Advantages &amp;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Key 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✔  ML + BI Integration: Combines neural network prediction with interactive visualization.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✔  Repeatable Workflow: Automated pipeline from raw CSV data to predictions and dashboards.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✔  Reduces Manual Effort: Minimizes manual spreadsheet calculations across student indicators.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✔  Scalable Design: Architecture easily extends to larger multi-semester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➜  Academic Monitoring: Track performance trends and identify records needing review.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➜  Faculty Analytics: Provide consolidated reports for classes, subjects, and streams.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➜  Student Support: Use performance indicators to prioritize mentoring and guidance.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➜  Institutional Reporting: Create interactive dashboards for internal academic reporting.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914400"/>
            <a:ext cx="5212080" cy="5029200"/>
          </a:xfrm>
          <a:prstGeom prst="roundRect">
            <a:avLst/>
          </a:prstGeom>
          <a:solidFill>
            <a:srgbClr val="162A52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DCEBFF"/>
                </a:solidFill>
              </a:defRPr>
            </a:pPr>
            <a:r>
              <a:t>➜  Use larger multi-semester datasets.</a:t>
            </a:r>
          </a:p>
          <a:p>
            <a:pPr>
              <a:spcAft>
                <a:spcPts val="1600"/>
              </a:spcAft>
              <a:defRPr sz="1300">
                <a:solidFill>
                  <a:srgbClr val="DCEBFF"/>
                </a:solidFill>
              </a:defRPr>
            </a:pPr>
            <a:r>
              <a:t>➜  Compare TensorFlow with Random Forest and XGBoost models.</a:t>
            </a:r>
          </a:p>
          <a:p>
            <a:pPr>
              <a:spcAft>
                <a:spcPts val="1600"/>
              </a:spcAft>
              <a:defRPr sz="1300">
                <a:solidFill>
                  <a:srgbClr val="DCEBFF"/>
                </a:solidFill>
              </a:defRPr>
            </a:pPr>
            <a:r>
              <a:t>➜  Automate model retraining pipelines.</a:t>
            </a:r>
          </a:p>
          <a:p>
            <a:pPr>
              <a:spcAft>
                <a:spcPts val="1600"/>
              </a:spcAft>
              <a:defRPr sz="1300">
                <a:solidFill>
                  <a:srgbClr val="DCEBFF"/>
                </a:solidFill>
              </a:defRPr>
            </a:pPr>
            <a:r>
              <a:t>➜  Publish dashboards to cloud with role-based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914400"/>
            <a:ext cx="5212080" cy="5029200"/>
          </a:xfrm>
          <a:prstGeom prst="roundRect">
            <a:avLst/>
          </a:prstGeom>
          <a:solidFill>
            <a:srgbClr val="162A52"/>
          </a:solidFill>
          <a:ln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DCEBFF"/>
                </a:solidFill>
              </a:defRPr>
            </a:pPr>
            <a:r>
              <a:t>✔  Shows how TensorFlow can be used for academic score prediction.</a:t>
            </a:r>
          </a:p>
          <a:p>
            <a:pPr>
              <a:spcAft>
                <a:spcPts val="1600"/>
              </a:spcAft>
              <a:defRPr sz="1300">
                <a:solidFill>
                  <a:srgbClr val="DCEBFF"/>
                </a:solidFill>
              </a:defRPr>
            </a:pPr>
            <a:r>
              <a:t>✔  Power BI transforms model outputs into interactive analytics.</a:t>
            </a:r>
          </a:p>
          <a:p>
            <a:pPr>
              <a:spcAft>
                <a:spcPts val="1600"/>
              </a:spcAft>
              <a:defRPr sz="1300">
                <a:solidFill>
                  <a:srgbClr val="DCEBFF"/>
                </a:solidFill>
              </a:defRPr>
            </a:pPr>
            <a:r>
              <a:t>✔  Demonstrates a practical ML + BI project workflow.</a:t>
            </a:r>
          </a:p>
          <a:p>
            <a:pPr>
              <a:spcAft>
                <a:spcPts val="1600"/>
              </a:spcAft>
              <a:defRPr sz="1300">
                <a:solidFill>
                  <a:srgbClr val="DCEBFF"/>
                </a:solidFill>
              </a:defRPr>
            </a:pPr>
            <a:r>
              <a:t>✔  Data -&gt; AI Prediction -&gt; Visualization -&gt;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62A52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971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500"/>
              </a:spcBef>
              <a:defRPr sz="2200" b="1">
                <a:solidFill>
                  <a:srgbClr val="0096D6"/>
                </a:solidFill>
              </a:defRPr>
            </a:pPr>
            <a:r>
              <a:t>Questions &amp; Answers</a:t>
            </a:r>
          </a:p>
          <a:p>
            <a:pPr algn="ctr">
              <a:spcBef>
                <a:spcPts val="2000"/>
              </a:spcBef>
              <a:defRPr sz="1400">
                <a:solidFill>
                  <a:srgbClr val="C8D7EB"/>
                </a:solidFill>
              </a:defRPr>
            </a:pPr>
            <a:r>
              <a:t>Ms. Mahima Chaudhari  |  SY MCA  |  Sandip University, Nashik</a:t>
            </a:r>
          </a:p>
        </p:txBody>
      </p:sp>
      <p:pic>
        <p:nvPicPr>
          <p:cNvPr id="4" name="Image 0" descr="Thank You">
            <a:extLst>
              <a:ext uri="{FF2B5EF4-FFF2-40B4-BE49-F238E27FC236}">
                <a16:creationId xmlns:a16="http://schemas.microsoft.com/office/drawing/2014/main" id="{48C9F86C-C5D1-DCEC-17E6-56D719E50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063" y="1135508"/>
            <a:ext cx="7234989" cy="45869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1129</Words>
  <Application>Microsoft Office PowerPoint</Application>
  <PresentationFormat>Widescreen</PresentationFormat>
  <Paragraphs>144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Mahima Chaudhari</cp:lastModifiedBy>
  <cp:revision>2</cp:revision>
  <dcterms:created xsi:type="dcterms:W3CDTF">2013-01-27T09:14:16Z</dcterms:created>
  <dcterms:modified xsi:type="dcterms:W3CDTF">2026-10-07T16:23:32Z</dcterms:modified>
  <cp:category/>
</cp:coreProperties>
</file>